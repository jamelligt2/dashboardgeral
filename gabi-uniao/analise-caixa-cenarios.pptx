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Entradas</c:v>
                </c:pt>
              </c:strCache>
            </c:strRef>
          </c:tx>
          <c:spPr>
            <a:solidFill>
              <a:srgbClr val="22C55E">
                <a:alpha val="6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25/mai</c:v>
                  </c:pt>
                  <c:pt idx="1">
                    <c:v>26/mai</c:v>
                  </c:pt>
                  <c:pt idx="2">
                    <c:v>27/mai</c:v>
                  </c:pt>
                  <c:pt idx="3">
                    <c:v>28/mai</c:v>
                  </c:pt>
                  <c:pt idx="4">
                    <c:v>29/mai</c:v>
                  </c:pt>
                  <c:pt idx="5">
                    <c:v>30/mai</c:v>
                  </c:pt>
                  <c:pt idx="6">
                    <c:v>31/mai</c:v>
                  </c:pt>
                  <c:pt idx="7">
                    <c:v>01/jun</c:v>
                  </c:pt>
                  <c:pt idx="8">
                    <c:v>02/jun</c:v>
                  </c:pt>
                  <c:pt idx="9">
                    <c:v>03/jun</c:v>
                  </c:pt>
                  <c:pt idx="10">
                    <c:v>04/jun</c:v>
                  </c:pt>
                  <c:pt idx="11">
                    <c:v>05/jun</c:v>
                  </c:pt>
                  <c:pt idx="12">
                    <c:v>06/jun</c:v>
                  </c:pt>
                  <c:pt idx="13">
                    <c:v>07/jun</c:v>
                  </c:pt>
                  <c:pt idx="14">
                    <c:v>08/jun</c:v>
                  </c:pt>
                  <c:pt idx="15">
                    <c:v>09/jun</c:v>
                  </c:pt>
                  <c:pt idx="16">
                    <c:v>10/jun</c:v>
                  </c:pt>
                  <c:pt idx="17">
                    <c:v>11/jun</c:v>
                  </c:pt>
                  <c:pt idx="18">
                    <c:v>12/jun</c:v>
                  </c:pt>
                  <c:pt idx="19">
                    <c:v>13/jun</c:v>
                  </c:pt>
                  <c:pt idx="20">
                    <c:v>14/jun</c:v>
                  </c:pt>
                  <c:pt idx="21">
                    <c:v>15/jun</c:v>
                  </c:pt>
                  <c:pt idx="22">
                    <c:v>16/jun</c:v>
                  </c:pt>
                  <c:pt idx="23">
                    <c:v>17/jun</c:v>
                  </c:pt>
                  <c:pt idx="24">
                    <c:v>18/jun</c:v>
                  </c:pt>
                  <c:pt idx="25">
                    <c:v>19/jun</c:v>
                  </c:pt>
                  <c:pt idx="26">
                    <c:v>20/jun</c:v>
                  </c:pt>
                  <c:pt idx="27">
                    <c:v>21/jun</c:v>
                  </c:pt>
                  <c:pt idx="28">
                    <c:v>22/jun</c:v>
                  </c:pt>
                  <c:pt idx="29">
                    <c:v>23/jun</c:v>
                  </c:pt>
                  <c:pt idx="30">
                    <c:v>24/jun</c:v>
                  </c:pt>
                  <c:pt idx="31">
                    <c:v>25/jun</c:v>
                  </c:pt>
                  <c:pt idx="32">
                    <c:v>26/jun</c:v>
                  </c:pt>
                  <c:pt idx="33">
                    <c:v>27/jun</c:v>
                  </c:pt>
                  <c:pt idx="34">
                    <c:v>28/jun</c:v>
                  </c:pt>
                  <c:pt idx="35">
                    <c:v>29/jun</c:v>
                  </c:pt>
                  <c:pt idx="36">
                    <c:v>30/jun</c:v>
                  </c:pt>
                </c:lvl>
              </c:multiLvlStrCache>
            </c:multiLvl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3107</c:v>
                </c:pt>
                <c:pt idx="1">
                  <c:v>0</c:v>
                </c:pt>
                <c:pt idx="2">
                  <c:v>2872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167</c:v>
                </c:pt>
                <c:pt idx="12">
                  <c:v>0</c:v>
                </c:pt>
                <c:pt idx="13">
                  <c:v>0</c:v>
                </c:pt>
                <c:pt idx="14">
                  <c:v>394</c:v>
                </c:pt>
                <c:pt idx="15">
                  <c:v>325</c:v>
                </c:pt>
                <c:pt idx="16">
                  <c:v>123</c:v>
                </c:pt>
                <c:pt idx="17">
                  <c:v>32</c:v>
                </c:pt>
                <c:pt idx="18">
                  <c:v>0</c:v>
                </c:pt>
                <c:pt idx="19">
                  <c:v>285</c:v>
                </c:pt>
                <c:pt idx="20">
                  <c:v>0</c:v>
                </c:pt>
                <c:pt idx="21">
                  <c:v>32</c:v>
                </c:pt>
                <c:pt idx="22">
                  <c:v>65</c:v>
                </c:pt>
                <c:pt idx="23">
                  <c:v>118</c:v>
                </c:pt>
                <c:pt idx="24">
                  <c:v>0</c:v>
                </c:pt>
                <c:pt idx="25">
                  <c:v>978</c:v>
                </c:pt>
                <c:pt idx="26">
                  <c:v>12677</c:v>
                </c:pt>
                <c:pt idx="27">
                  <c:v>491</c:v>
                </c:pt>
                <c:pt idx="28">
                  <c:v>8923</c:v>
                </c:pt>
                <c:pt idx="29">
                  <c:v>326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Saídas</c:v>
                </c:pt>
              </c:strCache>
            </c:strRef>
          </c:tx>
          <c:spPr>
            <a:solidFill>
              <a:srgbClr val="EF4444">
                <a:alpha val="6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25/mai</c:v>
                  </c:pt>
                  <c:pt idx="1">
                    <c:v>26/mai</c:v>
                  </c:pt>
                  <c:pt idx="2">
                    <c:v>27/mai</c:v>
                  </c:pt>
                  <c:pt idx="3">
                    <c:v>28/mai</c:v>
                  </c:pt>
                  <c:pt idx="4">
                    <c:v>29/mai</c:v>
                  </c:pt>
                  <c:pt idx="5">
                    <c:v>30/mai</c:v>
                  </c:pt>
                  <c:pt idx="6">
                    <c:v>31/mai</c:v>
                  </c:pt>
                  <c:pt idx="7">
                    <c:v>01/jun</c:v>
                  </c:pt>
                  <c:pt idx="8">
                    <c:v>02/jun</c:v>
                  </c:pt>
                  <c:pt idx="9">
                    <c:v>03/jun</c:v>
                  </c:pt>
                  <c:pt idx="10">
                    <c:v>04/jun</c:v>
                  </c:pt>
                  <c:pt idx="11">
                    <c:v>05/jun</c:v>
                  </c:pt>
                  <c:pt idx="12">
                    <c:v>06/jun</c:v>
                  </c:pt>
                  <c:pt idx="13">
                    <c:v>07/jun</c:v>
                  </c:pt>
                  <c:pt idx="14">
                    <c:v>08/jun</c:v>
                  </c:pt>
                  <c:pt idx="15">
                    <c:v>09/jun</c:v>
                  </c:pt>
                  <c:pt idx="16">
                    <c:v>10/jun</c:v>
                  </c:pt>
                  <c:pt idx="17">
                    <c:v>11/jun</c:v>
                  </c:pt>
                  <c:pt idx="18">
                    <c:v>12/jun</c:v>
                  </c:pt>
                  <c:pt idx="19">
                    <c:v>13/jun</c:v>
                  </c:pt>
                  <c:pt idx="20">
                    <c:v>14/jun</c:v>
                  </c:pt>
                  <c:pt idx="21">
                    <c:v>15/jun</c:v>
                  </c:pt>
                  <c:pt idx="22">
                    <c:v>16/jun</c:v>
                  </c:pt>
                  <c:pt idx="23">
                    <c:v>17/jun</c:v>
                  </c:pt>
                  <c:pt idx="24">
                    <c:v>18/jun</c:v>
                  </c:pt>
                  <c:pt idx="25">
                    <c:v>19/jun</c:v>
                  </c:pt>
                  <c:pt idx="26">
                    <c:v>20/jun</c:v>
                  </c:pt>
                  <c:pt idx="27">
                    <c:v>21/jun</c:v>
                  </c:pt>
                  <c:pt idx="28">
                    <c:v>22/jun</c:v>
                  </c:pt>
                  <c:pt idx="29">
                    <c:v>23/jun</c:v>
                  </c:pt>
                  <c:pt idx="30">
                    <c:v>24/jun</c:v>
                  </c:pt>
                  <c:pt idx="31">
                    <c:v>25/jun</c:v>
                  </c:pt>
                  <c:pt idx="32">
                    <c:v>26/jun</c:v>
                  </c:pt>
                  <c:pt idx="33">
                    <c:v>27/jun</c:v>
                  </c:pt>
                  <c:pt idx="34">
                    <c:v>28/jun</c:v>
                  </c:pt>
                  <c:pt idx="35">
                    <c:v>29/jun</c:v>
                  </c:pt>
                  <c:pt idx="36">
                    <c:v>30/jun</c:v>
                  </c:pt>
                </c:lvl>
              </c:multiLvlStrCache>
            </c:multiLvl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-2703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-7054</c:v>
                </c:pt>
                <c:pt idx="6">
                  <c:v>-921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-10000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-9324</c:v>
                </c:pt>
                <c:pt idx="17">
                  <c:v>-1697</c:v>
                </c:pt>
                <c:pt idx="18">
                  <c:v>0</c:v>
                </c:pt>
                <c:pt idx="19">
                  <c:v>-2231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-11832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-1639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-921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Saldo Acumulado</c:v>
                </c:pt>
              </c:strCache>
            </c:strRef>
          </c:tx>
          <c:spPr>
            <a:solidFill>
              <a:srgbClr val="9CA3AF"/>
            </a:solidFill>
            <a:ln w="3175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</c:f>
              <c:multiLvlStrCache>
                <c:ptCount val="37"/>
                <c:lvl>
                  <c:pt idx="0">
                    <c:v>25/mai</c:v>
                  </c:pt>
                  <c:pt idx="1">
                    <c:v>26/mai</c:v>
                  </c:pt>
                  <c:pt idx="2">
                    <c:v>27/mai</c:v>
                  </c:pt>
                  <c:pt idx="3">
                    <c:v>28/mai</c:v>
                  </c:pt>
                  <c:pt idx="4">
                    <c:v>29/mai</c:v>
                  </c:pt>
                  <c:pt idx="5">
                    <c:v>30/mai</c:v>
                  </c:pt>
                  <c:pt idx="6">
                    <c:v>31/mai</c:v>
                  </c:pt>
                  <c:pt idx="7">
                    <c:v>01/jun</c:v>
                  </c:pt>
                  <c:pt idx="8">
                    <c:v>02/jun</c:v>
                  </c:pt>
                  <c:pt idx="9">
                    <c:v>03/jun</c:v>
                  </c:pt>
                  <c:pt idx="10">
                    <c:v>04/jun</c:v>
                  </c:pt>
                  <c:pt idx="11">
                    <c:v>05/jun</c:v>
                  </c:pt>
                  <c:pt idx="12">
                    <c:v>06/jun</c:v>
                  </c:pt>
                  <c:pt idx="13">
                    <c:v>07/jun</c:v>
                  </c:pt>
                  <c:pt idx="14">
                    <c:v>08/jun</c:v>
                  </c:pt>
                  <c:pt idx="15">
                    <c:v>09/jun</c:v>
                  </c:pt>
                  <c:pt idx="16">
                    <c:v>10/jun</c:v>
                  </c:pt>
                  <c:pt idx="17">
                    <c:v>11/jun</c:v>
                  </c:pt>
                  <c:pt idx="18">
                    <c:v>12/jun</c:v>
                  </c:pt>
                  <c:pt idx="19">
                    <c:v>13/jun</c:v>
                  </c:pt>
                  <c:pt idx="20">
                    <c:v>14/jun</c:v>
                  </c:pt>
                  <c:pt idx="21">
                    <c:v>15/jun</c:v>
                  </c:pt>
                  <c:pt idx="22">
                    <c:v>16/jun</c:v>
                  </c:pt>
                  <c:pt idx="23">
                    <c:v>17/jun</c:v>
                  </c:pt>
                  <c:pt idx="24">
                    <c:v>18/jun</c:v>
                  </c:pt>
                  <c:pt idx="25">
                    <c:v>19/jun</c:v>
                  </c:pt>
                  <c:pt idx="26">
                    <c:v>20/jun</c:v>
                  </c:pt>
                  <c:pt idx="27">
                    <c:v>21/jun</c:v>
                  </c:pt>
                  <c:pt idx="28">
                    <c:v>22/jun</c:v>
                  </c:pt>
                  <c:pt idx="29">
                    <c:v>23/jun</c:v>
                  </c:pt>
                  <c:pt idx="30">
                    <c:v>24/jun</c:v>
                  </c:pt>
                  <c:pt idx="31">
                    <c:v>25/jun</c:v>
                  </c:pt>
                  <c:pt idx="32">
                    <c:v>26/jun</c:v>
                  </c:pt>
                  <c:pt idx="33">
                    <c:v>27/jun</c:v>
                  </c:pt>
                  <c:pt idx="34">
                    <c:v>28/jun</c:v>
                  </c:pt>
                  <c:pt idx="35">
                    <c:v>29/jun</c:v>
                  </c:pt>
                  <c:pt idx="36">
                    <c:v>30/jun</c:v>
                  </c:pt>
                </c:lvl>
              </c:multiLvlStrCache>
            </c:multiLvl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404</c:v>
                </c:pt>
                <c:pt idx="1">
                  <c:v>404</c:v>
                </c:pt>
                <c:pt idx="2">
                  <c:v>3276</c:v>
                </c:pt>
                <c:pt idx="3">
                  <c:v>3276</c:v>
                </c:pt>
                <c:pt idx="4">
                  <c:v>3276</c:v>
                </c:pt>
                <c:pt idx="5">
                  <c:v>-3778</c:v>
                </c:pt>
                <c:pt idx="6">
                  <c:v>-4699</c:v>
                </c:pt>
                <c:pt idx="7">
                  <c:v>-4699</c:v>
                </c:pt>
                <c:pt idx="8">
                  <c:v>-4699</c:v>
                </c:pt>
                <c:pt idx="9">
                  <c:v>-4699</c:v>
                </c:pt>
                <c:pt idx="10">
                  <c:v>-4699</c:v>
                </c:pt>
                <c:pt idx="11">
                  <c:v>-14532</c:v>
                </c:pt>
                <c:pt idx="12">
                  <c:v>-14532</c:v>
                </c:pt>
                <c:pt idx="13">
                  <c:v>-14532</c:v>
                </c:pt>
                <c:pt idx="14">
                  <c:v>-14138</c:v>
                </c:pt>
                <c:pt idx="15">
                  <c:v>-13813</c:v>
                </c:pt>
                <c:pt idx="16">
                  <c:v>-23014</c:v>
                </c:pt>
                <c:pt idx="17">
                  <c:v>-24679</c:v>
                </c:pt>
                <c:pt idx="18">
                  <c:v>-24679</c:v>
                </c:pt>
                <c:pt idx="19">
                  <c:v>-26625</c:v>
                </c:pt>
                <c:pt idx="20">
                  <c:v>-26625</c:v>
                </c:pt>
                <c:pt idx="21">
                  <c:v>-26593</c:v>
                </c:pt>
                <c:pt idx="22">
                  <c:v>-26528</c:v>
                </c:pt>
                <c:pt idx="23">
                  <c:v>-26410</c:v>
                </c:pt>
                <c:pt idx="24">
                  <c:v>-26410</c:v>
                </c:pt>
                <c:pt idx="25">
                  <c:v>-25432</c:v>
                </c:pt>
                <c:pt idx="26">
                  <c:v>-24587</c:v>
                </c:pt>
                <c:pt idx="27">
                  <c:v>-24096</c:v>
                </c:pt>
                <c:pt idx="28">
                  <c:v>-15173</c:v>
                </c:pt>
                <c:pt idx="29">
                  <c:v>-14847</c:v>
                </c:pt>
                <c:pt idx="30">
                  <c:v>-14847</c:v>
                </c:pt>
                <c:pt idx="31">
                  <c:v>-16486</c:v>
                </c:pt>
                <c:pt idx="32">
                  <c:v>-16486</c:v>
                </c:pt>
                <c:pt idx="33">
                  <c:v>-16486</c:v>
                </c:pt>
                <c:pt idx="34">
                  <c:v>-16486</c:v>
                </c:pt>
                <c:pt idx="35">
                  <c:v>-16486</c:v>
                </c:pt>
                <c:pt idx="36">
                  <c:v>-17407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 w="12700" cap="flat">
      <a:solidFill>
        <a:srgbClr val="444444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Entradas (c/ ant.)</c:v>
                </c:pt>
              </c:strCache>
            </c:strRef>
          </c:tx>
          <c:spPr>
            <a:solidFill>
              <a:srgbClr val="22C55E">
                <a:alpha val="4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25/mai</c:v>
                  </c:pt>
                  <c:pt idx="1">
                    <c:v>26/mai</c:v>
                  </c:pt>
                  <c:pt idx="2">
                    <c:v>27/mai</c:v>
                  </c:pt>
                  <c:pt idx="3">
                    <c:v>28/mai</c:v>
                  </c:pt>
                  <c:pt idx="4">
                    <c:v>29/mai</c:v>
                  </c:pt>
                  <c:pt idx="5">
                    <c:v>30/mai</c:v>
                  </c:pt>
                  <c:pt idx="6">
                    <c:v>31/mai</c:v>
                  </c:pt>
                  <c:pt idx="7">
                    <c:v>01/jun</c:v>
                  </c:pt>
                  <c:pt idx="8">
                    <c:v>02/jun</c:v>
                  </c:pt>
                  <c:pt idx="9">
                    <c:v>03/jun</c:v>
                  </c:pt>
                  <c:pt idx="10">
                    <c:v>04/jun</c:v>
                  </c:pt>
                  <c:pt idx="11">
                    <c:v>05/jun</c:v>
                  </c:pt>
                  <c:pt idx="12">
                    <c:v>06/jun</c:v>
                  </c:pt>
                  <c:pt idx="13">
                    <c:v>07/jun</c:v>
                  </c:pt>
                  <c:pt idx="14">
                    <c:v>08/jun</c:v>
                  </c:pt>
                  <c:pt idx="15">
                    <c:v>09/jun</c:v>
                  </c:pt>
                  <c:pt idx="16">
                    <c:v>10/jun</c:v>
                  </c:pt>
                  <c:pt idx="17">
                    <c:v>11/jun</c:v>
                  </c:pt>
                  <c:pt idx="18">
                    <c:v>12/jun</c:v>
                  </c:pt>
                  <c:pt idx="19">
                    <c:v>13/jun</c:v>
                  </c:pt>
                  <c:pt idx="20">
                    <c:v>14/jun</c:v>
                  </c:pt>
                  <c:pt idx="21">
                    <c:v>15/jun</c:v>
                  </c:pt>
                  <c:pt idx="22">
                    <c:v>16/jun</c:v>
                  </c:pt>
                  <c:pt idx="23">
                    <c:v>17/jun</c:v>
                  </c:pt>
                  <c:pt idx="24">
                    <c:v>18/jun</c:v>
                  </c:pt>
                  <c:pt idx="25">
                    <c:v>19/jun</c:v>
                  </c:pt>
                  <c:pt idx="26">
                    <c:v>20/jun</c:v>
                  </c:pt>
                  <c:pt idx="27">
                    <c:v>21/jun</c:v>
                  </c:pt>
                  <c:pt idx="28">
                    <c:v>22/jun</c:v>
                  </c:pt>
                  <c:pt idx="29">
                    <c:v>23/jun</c:v>
                  </c:pt>
                  <c:pt idx="30">
                    <c:v>24/jun</c:v>
                  </c:pt>
                  <c:pt idx="31">
                    <c:v>25/jun</c:v>
                  </c:pt>
                  <c:pt idx="32">
                    <c:v>26/jun</c:v>
                  </c:pt>
                  <c:pt idx="33">
                    <c:v>27/jun</c:v>
                  </c:pt>
                  <c:pt idx="34">
                    <c:v>28/jun</c:v>
                  </c:pt>
                  <c:pt idx="35">
                    <c:v>29/jun</c:v>
                  </c:pt>
                  <c:pt idx="36">
                    <c:v>30/jun</c:v>
                  </c:pt>
                </c:lvl>
              </c:multiLvlStrCache>
            </c:multiLvl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3107</c:v>
                </c:pt>
                <c:pt idx="1">
                  <c:v>0</c:v>
                </c:pt>
                <c:pt idx="2">
                  <c:v>2872</c:v>
                </c:pt>
                <c:pt idx="3">
                  <c:v>0</c:v>
                </c:pt>
                <c:pt idx="4">
                  <c:v>4699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10000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9108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Saídas</c:v>
                </c:pt>
              </c:strCache>
            </c:strRef>
          </c:tx>
          <c:spPr>
            <a:solidFill>
              <a:srgbClr val="EF4444">
                <a:alpha val="4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25/mai</c:v>
                  </c:pt>
                  <c:pt idx="1">
                    <c:v>26/mai</c:v>
                  </c:pt>
                  <c:pt idx="2">
                    <c:v>27/mai</c:v>
                  </c:pt>
                  <c:pt idx="3">
                    <c:v>28/mai</c:v>
                  </c:pt>
                  <c:pt idx="4">
                    <c:v>29/mai</c:v>
                  </c:pt>
                  <c:pt idx="5">
                    <c:v>30/mai</c:v>
                  </c:pt>
                  <c:pt idx="6">
                    <c:v>31/mai</c:v>
                  </c:pt>
                  <c:pt idx="7">
                    <c:v>01/jun</c:v>
                  </c:pt>
                  <c:pt idx="8">
                    <c:v>02/jun</c:v>
                  </c:pt>
                  <c:pt idx="9">
                    <c:v>03/jun</c:v>
                  </c:pt>
                  <c:pt idx="10">
                    <c:v>04/jun</c:v>
                  </c:pt>
                  <c:pt idx="11">
                    <c:v>05/jun</c:v>
                  </c:pt>
                  <c:pt idx="12">
                    <c:v>06/jun</c:v>
                  </c:pt>
                  <c:pt idx="13">
                    <c:v>07/jun</c:v>
                  </c:pt>
                  <c:pt idx="14">
                    <c:v>08/jun</c:v>
                  </c:pt>
                  <c:pt idx="15">
                    <c:v>09/jun</c:v>
                  </c:pt>
                  <c:pt idx="16">
                    <c:v>10/jun</c:v>
                  </c:pt>
                  <c:pt idx="17">
                    <c:v>11/jun</c:v>
                  </c:pt>
                  <c:pt idx="18">
                    <c:v>12/jun</c:v>
                  </c:pt>
                  <c:pt idx="19">
                    <c:v>13/jun</c:v>
                  </c:pt>
                  <c:pt idx="20">
                    <c:v>14/jun</c:v>
                  </c:pt>
                  <c:pt idx="21">
                    <c:v>15/jun</c:v>
                  </c:pt>
                  <c:pt idx="22">
                    <c:v>16/jun</c:v>
                  </c:pt>
                  <c:pt idx="23">
                    <c:v>17/jun</c:v>
                  </c:pt>
                  <c:pt idx="24">
                    <c:v>18/jun</c:v>
                  </c:pt>
                  <c:pt idx="25">
                    <c:v>19/jun</c:v>
                  </c:pt>
                  <c:pt idx="26">
                    <c:v>20/jun</c:v>
                  </c:pt>
                  <c:pt idx="27">
                    <c:v>21/jun</c:v>
                  </c:pt>
                  <c:pt idx="28">
                    <c:v>22/jun</c:v>
                  </c:pt>
                  <c:pt idx="29">
                    <c:v>23/jun</c:v>
                  </c:pt>
                  <c:pt idx="30">
                    <c:v>24/jun</c:v>
                  </c:pt>
                  <c:pt idx="31">
                    <c:v>25/jun</c:v>
                  </c:pt>
                  <c:pt idx="32">
                    <c:v>26/jun</c:v>
                  </c:pt>
                  <c:pt idx="33">
                    <c:v>27/jun</c:v>
                  </c:pt>
                  <c:pt idx="34">
                    <c:v>28/jun</c:v>
                  </c:pt>
                  <c:pt idx="35">
                    <c:v>29/jun</c:v>
                  </c:pt>
                  <c:pt idx="36">
                    <c:v>30/jun</c:v>
                  </c:pt>
                </c:lvl>
              </c:multiLvlStrCache>
            </c:multiLvl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-2703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-7054</c:v>
                </c:pt>
                <c:pt idx="6">
                  <c:v>-921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-10000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-9324</c:v>
                </c:pt>
                <c:pt idx="17">
                  <c:v>-1697</c:v>
                </c:pt>
                <c:pt idx="18">
                  <c:v>0</c:v>
                </c:pt>
                <c:pt idx="19">
                  <c:v>-2231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-11832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-1639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-921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Saldo original</c:v>
                </c:pt>
              </c:strCache>
            </c:strRef>
          </c:tx>
          <c:spPr>
            <a:solidFill>
              <a:srgbClr val="9CA3AF"/>
            </a:solidFill>
            <a:ln w="2794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</c:f>
              <c:multiLvlStrCache>
                <c:ptCount val="37"/>
                <c:lvl>
                  <c:pt idx="0">
                    <c:v>25/mai</c:v>
                  </c:pt>
                  <c:pt idx="1">
                    <c:v>26/mai</c:v>
                  </c:pt>
                  <c:pt idx="2">
                    <c:v>27/mai</c:v>
                  </c:pt>
                  <c:pt idx="3">
                    <c:v>28/mai</c:v>
                  </c:pt>
                  <c:pt idx="4">
                    <c:v>29/mai</c:v>
                  </c:pt>
                  <c:pt idx="5">
                    <c:v>30/mai</c:v>
                  </c:pt>
                  <c:pt idx="6">
                    <c:v>31/mai</c:v>
                  </c:pt>
                  <c:pt idx="7">
                    <c:v>01/jun</c:v>
                  </c:pt>
                  <c:pt idx="8">
                    <c:v>02/jun</c:v>
                  </c:pt>
                  <c:pt idx="9">
                    <c:v>03/jun</c:v>
                  </c:pt>
                  <c:pt idx="10">
                    <c:v>04/jun</c:v>
                  </c:pt>
                  <c:pt idx="11">
                    <c:v>05/jun</c:v>
                  </c:pt>
                  <c:pt idx="12">
                    <c:v>06/jun</c:v>
                  </c:pt>
                  <c:pt idx="13">
                    <c:v>07/jun</c:v>
                  </c:pt>
                  <c:pt idx="14">
                    <c:v>08/jun</c:v>
                  </c:pt>
                  <c:pt idx="15">
                    <c:v>09/jun</c:v>
                  </c:pt>
                  <c:pt idx="16">
                    <c:v>10/jun</c:v>
                  </c:pt>
                  <c:pt idx="17">
                    <c:v>11/jun</c:v>
                  </c:pt>
                  <c:pt idx="18">
                    <c:v>12/jun</c:v>
                  </c:pt>
                  <c:pt idx="19">
                    <c:v>13/jun</c:v>
                  </c:pt>
                  <c:pt idx="20">
                    <c:v>14/jun</c:v>
                  </c:pt>
                  <c:pt idx="21">
                    <c:v>15/jun</c:v>
                  </c:pt>
                  <c:pt idx="22">
                    <c:v>16/jun</c:v>
                  </c:pt>
                  <c:pt idx="23">
                    <c:v>17/jun</c:v>
                  </c:pt>
                  <c:pt idx="24">
                    <c:v>18/jun</c:v>
                  </c:pt>
                  <c:pt idx="25">
                    <c:v>19/jun</c:v>
                  </c:pt>
                  <c:pt idx="26">
                    <c:v>20/jun</c:v>
                  </c:pt>
                  <c:pt idx="27">
                    <c:v>21/jun</c:v>
                  </c:pt>
                  <c:pt idx="28">
                    <c:v>22/jun</c:v>
                  </c:pt>
                  <c:pt idx="29">
                    <c:v>23/jun</c:v>
                  </c:pt>
                  <c:pt idx="30">
                    <c:v>24/jun</c:v>
                  </c:pt>
                  <c:pt idx="31">
                    <c:v>25/jun</c:v>
                  </c:pt>
                  <c:pt idx="32">
                    <c:v>26/jun</c:v>
                  </c:pt>
                  <c:pt idx="33">
                    <c:v>27/jun</c:v>
                  </c:pt>
                  <c:pt idx="34">
                    <c:v>28/jun</c:v>
                  </c:pt>
                  <c:pt idx="35">
                    <c:v>29/jun</c:v>
                  </c:pt>
                  <c:pt idx="36">
                    <c:v>30/jun</c:v>
                  </c:pt>
                </c:lvl>
              </c:multiLvlStrCache>
            </c:multiLvl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404</c:v>
                </c:pt>
                <c:pt idx="1">
                  <c:v>404</c:v>
                </c:pt>
                <c:pt idx="2">
                  <c:v>3276</c:v>
                </c:pt>
                <c:pt idx="3">
                  <c:v>3276</c:v>
                </c:pt>
                <c:pt idx="4">
                  <c:v>3276</c:v>
                </c:pt>
                <c:pt idx="5">
                  <c:v>-3778</c:v>
                </c:pt>
                <c:pt idx="6">
                  <c:v>-4699</c:v>
                </c:pt>
                <c:pt idx="7">
                  <c:v>-4699</c:v>
                </c:pt>
                <c:pt idx="8">
                  <c:v>-4699</c:v>
                </c:pt>
                <c:pt idx="9">
                  <c:v>-4699</c:v>
                </c:pt>
                <c:pt idx="10">
                  <c:v>-4699</c:v>
                </c:pt>
                <c:pt idx="11">
                  <c:v>-14532</c:v>
                </c:pt>
                <c:pt idx="12">
                  <c:v>-14532</c:v>
                </c:pt>
                <c:pt idx="13">
                  <c:v>-14532</c:v>
                </c:pt>
                <c:pt idx="14">
                  <c:v>-14138</c:v>
                </c:pt>
                <c:pt idx="15">
                  <c:v>-13813</c:v>
                </c:pt>
                <c:pt idx="16">
                  <c:v>-23014</c:v>
                </c:pt>
                <c:pt idx="17">
                  <c:v>-24679</c:v>
                </c:pt>
                <c:pt idx="18">
                  <c:v>-24679</c:v>
                </c:pt>
                <c:pt idx="19">
                  <c:v>-26625</c:v>
                </c:pt>
                <c:pt idx="20">
                  <c:v>-26625</c:v>
                </c:pt>
                <c:pt idx="21">
                  <c:v>-26593</c:v>
                </c:pt>
                <c:pt idx="22">
                  <c:v>-26528</c:v>
                </c:pt>
                <c:pt idx="23">
                  <c:v>-26410</c:v>
                </c:pt>
                <c:pt idx="24">
                  <c:v>-26410</c:v>
                </c:pt>
                <c:pt idx="25">
                  <c:v>-25432</c:v>
                </c:pt>
                <c:pt idx="26">
                  <c:v>-24587</c:v>
                </c:pt>
                <c:pt idx="27">
                  <c:v>-24096</c:v>
                </c:pt>
                <c:pt idx="28">
                  <c:v>-15173</c:v>
                </c:pt>
                <c:pt idx="29">
                  <c:v>-14847</c:v>
                </c:pt>
                <c:pt idx="30">
                  <c:v>-14847</c:v>
                </c:pt>
                <c:pt idx="31">
                  <c:v>-16486</c:v>
                </c:pt>
                <c:pt idx="32">
                  <c:v>-16486</c:v>
                </c:pt>
                <c:pt idx="33">
                  <c:v>-16486</c:v>
                </c:pt>
                <c:pt idx="34">
                  <c:v>-16486</c:v>
                </c:pt>
                <c:pt idx="35">
                  <c:v>-16486</c:v>
                </c:pt>
                <c:pt idx="36">
                  <c:v>-17407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Saldo c/ antecipações</c:v>
                </c:pt>
              </c:strCache>
            </c:strRef>
          </c:tx>
          <c:spPr>
            <a:solidFill>
              <a:srgbClr val="3B82F6"/>
            </a:solidFill>
            <a:ln w="2794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</c:f>
              <c:multiLvlStrCache>
                <c:ptCount val="37"/>
                <c:lvl>
                  <c:pt idx="0">
                    <c:v>25/mai</c:v>
                  </c:pt>
                  <c:pt idx="1">
                    <c:v>26/mai</c:v>
                  </c:pt>
                  <c:pt idx="2">
                    <c:v>27/mai</c:v>
                  </c:pt>
                  <c:pt idx="3">
                    <c:v>28/mai</c:v>
                  </c:pt>
                  <c:pt idx="4">
                    <c:v>29/mai</c:v>
                  </c:pt>
                  <c:pt idx="5">
                    <c:v>30/mai</c:v>
                  </c:pt>
                  <c:pt idx="6">
                    <c:v>31/mai</c:v>
                  </c:pt>
                  <c:pt idx="7">
                    <c:v>01/jun</c:v>
                  </c:pt>
                  <c:pt idx="8">
                    <c:v>02/jun</c:v>
                  </c:pt>
                  <c:pt idx="9">
                    <c:v>03/jun</c:v>
                  </c:pt>
                  <c:pt idx="10">
                    <c:v>04/jun</c:v>
                  </c:pt>
                  <c:pt idx="11">
                    <c:v>05/jun</c:v>
                  </c:pt>
                  <c:pt idx="12">
                    <c:v>06/jun</c:v>
                  </c:pt>
                  <c:pt idx="13">
                    <c:v>07/jun</c:v>
                  </c:pt>
                  <c:pt idx="14">
                    <c:v>08/jun</c:v>
                  </c:pt>
                  <c:pt idx="15">
                    <c:v>09/jun</c:v>
                  </c:pt>
                  <c:pt idx="16">
                    <c:v>10/jun</c:v>
                  </c:pt>
                  <c:pt idx="17">
                    <c:v>11/jun</c:v>
                  </c:pt>
                  <c:pt idx="18">
                    <c:v>12/jun</c:v>
                  </c:pt>
                  <c:pt idx="19">
                    <c:v>13/jun</c:v>
                  </c:pt>
                  <c:pt idx="20">
                    <c:v>14/jun</c:v>
                  </c:pt>
                  <c:pt idx="21">
                    <c:v>15/jun</c:v>
                  </c:pt>
                  <c:pt idx="22">
                    <c:v>16/jun</c:v>
                  </c:pt>
                  <c:pt idx="23">
                    <c:v>17/jun</c:v>
                  </c:pt>
                  <c:pt idx="24">
                    <c:v>18/jun</c:v>
                  </c:pt>
                  <c:pt idx="25">
                    <c:v>19/jun</c:v>
                  </c:pt>
                  <c:pt idx="26">
                    <c:v>20/jun</c:v>
                  </c:pt>
                  <c:pt idx="27">
                    <c:v>21/jun</c:v>
                  </c:pt>
                  <c:pt idx="28">
                    <c:v>22/jun</c:v>
                  </c:pt>
                  <c:pt idx="29">
                    <c:v>23/jun</c:v>
                  </c:pt>
                  <c:pt idx="30">
                    <c:v>24/jun</c:v>
                  </c:pt>
                  <c:pt idx="31">
                    <c:v>25/jun</c:v>
                  </c:pt>
                  <c:pt idx="32">
                    <c:v>26/jun</c:v>
                  </c:pt>
                  <c:pt idx="33">
                    <c:v>27/jun</c:v>
                  </c:pt>
                  <c:pt idx="34">
                    <c:v>28/jun</c:v>
                  </c:pt>
                  <c:pt idx="35">
                    <c:v>29/jun</c:v>
                  </c:pt>
                  <c:pt idx="36">
                    <c:v>30/jun</c:v>
                  </c:pt>
                </c:lvl>
              </c:multiLvlStrCache>
            </c:multiLvl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404</c:v>
                </c:pt>
                <c:pt idx="1">
                  <c:v>404</c:v>
                </c:pt>
                <c:pt idx="2">
                  <c:v>3276</c:v>
                </c:pt>
                <c:pt idx="3">
                  <c:v>3276</c:v>
                </c:pt>
                <c:pt idx="4">
                  <c:v>7975</c:v>
                </c:pt>
                <c:pt idx="5">
                  <c:v>921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10000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9108</c:v>
                </c:pt>
                <c:pt idx="16">
                  <c:v>-216</c:v>
                </c:pt>
                <c:pt idx="17">
                  <c:v>-1913</c:v>
                </c:pt>
                <c:pt idx="18">
                  <c:v>-1913</c:v>
                </c:pt>
                <c:pt idx="19">
                  <c:v>-4144</c:v>
                </c:pt>
                <c:pt idx="20">
                  <c:v>-4144</c:v>
                </c:pt>
                <c:pt idx="21">
                  <c:v>-4144</c:v>
                </c:pt>
                <c:pt idx="22">
                  <c:v>-4144</c:v>
                </c:pt>
                <c:pt idx="23">
                  <c:v>-4144</c:v>
                </c:pt>
                <c:pt idx="24">
                  <c:v>-4144</c:v>
                </c:pt>
                <c:pt idx="25">
                  <c:v>-4144</c:v>
                </c:pt>
                <c:pt idx="26">
                  <c:v>-15976</c:v>
                </c:pt>
                <c:pt idx="27">
                  <c:v>-15976</c:v>
                </c:pt>
                <c:pt idx="28">
                  <c:v>-15976</c:v>
                </c:pt>
                <c:pt idx="29">
                  <c:v>-15976</c:v>
                </c:pt>
                <c:pt idx="30">
                  <c:v>-15976</c:v>
                </c:pt>
                <c:pt idx="31">
                  <c:v>-17615</c:v>
                </c:pt>
                <c:pt idx="32">
                  <c:v>-17615</c:v>
                </c:pt>
                <c:pt idx="33">
                  <c:v>-17615</c:v>
                </c:pt>
                <c:pt idx="34">
                  <c:v>-17615</c:v>
                </c:pt>
                <c:pt idx="35">
                  <c:v>-17615</c:v>
                </c:pt>
                <c:pt idx="36">
                  <c:v>-18536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 w="12700" cap="flat">
      <a:solidFill>
        <a:srgbClr val="444444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0"/>
            <a:ext cx="3419856" cy="51435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256032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2560320" cy="228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15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ANÁLISE DE CAIXA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Mai–Jun 2026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40480" y="10058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Cenários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Sobreviver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Junho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3840480" y="3246120"/>
            <a:ext cx="5029200" cy="3657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3401568"/>
            <a:ext cx="64008" cy="20116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34107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Sem ação: rombo de R$ 17.407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0" y="3703320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77640" y="37124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Antecipação Eduzz: 3 rodadas, esgota 10/jun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40480" y="4005072"/>
            <a:ext cx="64008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77640" y="40142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Lançamento: R$ 15k investido, ROAS 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40480" y="4480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 em 25/05/2026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274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COMPARATIVO — 3 CENÁRIOS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do Amor Divino · Análise de Fluxo de Caixa Mai–Jun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407408"/>
            <a:ext cx="1920240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5303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muda em cada decisão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01168" y="978408"/>
            <a:ext cx="2834640" cy="3401568"/>
          </a:xfrm>
          <a:prstGeom prst="rect">
            <a:avLst/>
          </a:prstGeom>
          <a:solidFill>
            <a:srgbClr val="141414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978408"/>
            <a:ext cx="2834640" cy="54864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005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13232" y="1033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1234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Ação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10896" y="1463040"/>
            <a:ext cx="2615184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" y="150876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jun (Eduzz)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10896" y="16733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R$ 27.808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10896" y="189280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junho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10896" y="20574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R$ 37.644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10896" y="227685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 final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0896" y="24414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R$ 17.407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10896" y="266090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crítico 10–13/jun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10896" y="28254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R$ 13.252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10896" y="304495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mínimo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10896" y="320954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Negativo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10896" y="409651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ação, o caixa entra no vermelho dia 30/mai e não recupera.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246120" y="978408"/>
            <a:ext cx="2834640" cy="3401568"/>
          </a:xfrm>
          <a:prstGeom prst="rect">
            <a:avLst/>
          </a:prstGeom>
          <a:solidFill>
            <a:srgbClr val="14141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46120" y="978408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55848" y="1005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3758184" y="1033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B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58184" y="1234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Antecipação Eduzz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355848" y="1463040"/>
            <a:ext cx="2615184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55848" y="150876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antecipado (3x)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355848" y="16733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R$ 24.936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355848" y="189280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em taxas Eduzz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355848" y="20574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R$ 1.129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3355848" y="227685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esgota em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355848" y="24414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10/jun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355848" y="266090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Déficit residual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3355848" y="28254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R$ 18.536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3355848" y="304495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mínimo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355848" y="320954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em 29/mai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3355848" y="409651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tempo até 10/jun, mas não resolve o rombo — lançamento ainda obrigatório.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6291072" y="978408"/>
            <a:ext cx="2834640" cy="3401568"/>
          </a:xfrm>
          <a:prstGeom prst="rect">
            <a:avLst/>
          </a:prstGeom>
          <a:solidFill>
            <a:srgbClr val="14141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91072" y="978408"/>
            <a:ext cx="28346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0800" y="1005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6803136" y="1033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C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803136" y="1234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6400800" y="1463040"/>
            <a:ext cx="2615184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00800" y="150876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ads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400800" y="16733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R$ 15.000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6400800" y="189280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(ROAS 3)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6400800" y="20574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R$ 45.000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400800" y="227685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lançamento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6400800" y="24414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R$ 30.000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400800" y="266090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 rombo de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6400800" y="28254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R$ 17.407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400800" y="304495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final junho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6400800" y="320954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R$ 12.593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400800" y="409651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Única opção que resolve o caixa. Meta: carrinho abrir antes de 10/jun.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274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A — SITUAÇÃO ATUAL · SEM AÇÃO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do Amor Divino · Análise de Fluxo de Caixa Mai–Jun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407408"/>
            <a:ext cx="1920240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5303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ação, o caixa entra no vermelho em 30 de maio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201168" y="978408"/>
            <a:ext cx="2084832" cy="987552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978408"/>
            <a:ext cx="2084832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0698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FAT. MAIO (REAL)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10896" y="1271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R$ 26.517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10896" y="16642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Eduzz reais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432304" y="978408"/>
            <a:ext cx="2084832" cy="987552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32304" y="978408"/>
            <a:ext cx="2084832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42032" y="10698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JUN PREVISTOS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2542032" y="1271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R$ 27.808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542032" y="16642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Eduzz previstos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63440" y="978408"/>
            <a:ext cx="2084832" cy="987552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978408"/>
            <a:ext cx="2084832" cy="36576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10698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JUNHO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773168" y="1271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R$ 37.644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73168" y="16642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fixos + Já Postei Studio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894576" y="978408"/>
            <a:ext cx="2084832" cy="987552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94576" y="978408"/>
            <a:ext cx="2084832" cy="36576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04304" y="10698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 SEM LANÇAMENTO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7004304" y="12710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R$ 17.407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004304" y="16642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não fecha sozinho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01168" y="208483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LINHA DO TEMPO — PONTOS CRÍTICOS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201168" y="2322576"/>
            <a:ext cx="2084832" cy="1024128"/>
          </a:xfrm>
          <a:prstGeom prst="rect">
            <a:avLst/>
          </a:prstGeom>
          <a:solidFill>
            <a:srgbClr val="141414"/>
          </a:solidFill>
          <a:ln w="10160">
            <a:solidFill>
              <a:srgbClr val="CC33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1168" y="2322576"/>
            <a:ext cx="2084832" cy="36576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2608" y="2377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30/mai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92608" y="2578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R$ 7.054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92608" y="28529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 + folha + fixos maio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432304" y="2322576"/>
            <a:ext cx="2084832" cy="1024128"/>
          </a:xfrm>
          <a:prstGeom prst="rect">
            <a:avLst/>
          </a:prstGeom>
          <a:solidFill>
            <a:srgbClr val="141414"/>
          </a:solidFill>
          <a:ln w="10160">
            <a:solidFill>
              <a:srgbClr val="CC33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432304" y="2322576"/>
            <a:ext cx="2084832" cy="36576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23744" y="2377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05/jun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523744" y="2578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R$ 10.000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2523744" y="28529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parcela Já Postei Studio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663440" y="2322576"/>
            <a:ext cx="2084832" cy="1024128"/>
          </a:xfrm>
          <a:prstGeom prst="rect">
            <a:avLst/>
          </a:prstGeom>
          <a:solidFill>
            <a:srgbClr val="141414"/>
          </a:solidFill>
          <a:ln w="10160">
            <a:solidFill>
              <a:srgbClr val="CC33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63440" y="2322576"/>
            <a:ext cx="2084832" cy="36576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0" y="2377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10–13/jun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754880" y="2578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R$ 13.252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754880" y="28529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crítico: folha jun + ads + fixos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6894576" y="2322576"/>
            <a:ext cx="2084832" cy="1024128"/>
          </a:xfrm>
          <a:prstGeom prst="rect">
            <a:avLst/>
          </a:prstGeom>
          <a:solidFill>
            <a:srgbClr val="141414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894576" y="2322576"/>
            <a:ext cx="208483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986016" y="2377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20/jun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86016" y="2578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R$ 11.832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6986016" y="28529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vs. entrada de R$ 12.677 — empata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201168" y="3456432"/>
            <a:ext cx="8741664" cy="530352"/>
          </a:xfrm>
          <a:prstGeom prst="rect">
            <a:avLst/>
          </a:prstGeom>
          <a:solidFill>
            <a:srgbClr val="1A0000"/>
          </a:solidFill>
          <a:ln w="10160">
            <a:solidFill>
              <a:srgbClr val="CC33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47472" y="3511296"/>
            <a:ext cx="8449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ALERTA:  Sem lançamento ou antecipação, o caixa fica negativo a partir de 30/mai e acumula um rombo de R$ 17.407 até o final de junho. Os créditos Eduzz previstos (R$ 27.808) não cobrem as saídas (R$ 37.644).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274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A — GRÁFICO: SALDO ACUMULADO MAI–JUN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do Amor Divino · Análise de Fluxo de Caixa Mai–Jun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407408"/>
            <a:ext cx="1920240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5212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Caixa fica negativo em 30/mai e acumula rombo de R$ 17.407 até 30/jun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6032" y="868680"/>
            <a:ext cx="201168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850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719072" y="868680"/>
            <a:ext cx="201168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56816" y="850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182112" y="868680"/>
            <a:ext cx="201168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9856" y="850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acumulado</a:t>
            </a:r>
            <a:endParaRPr lang="en-US" sz="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01168" y="1024128"/>
          <a:ext cx="8741664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1024128" y="4370832"/>
            <a:ext cx="27432" cy="20116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86968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30/mai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R$−7.054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2633472" y="4370832"/>
            <a:ext cx="27432" cy="20116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96312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05/jun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R$−10.000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4096512" y="4370832"/>
            <a:ext cx="27432" cy="20116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59352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10–13/jun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R$−13.252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274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B — ANTECIPAÇÃO EDUZZ · 3 RODADAS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do Amor Divino · Análise de Fluxo de Caixa Mai–Jun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407408"/>
            <a:ext cx="1920240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5303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Antecipação compra tempo, mas não resolve o rombo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201168" y="978408"/>
            <a:ext cx="8741664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0058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Eduzz: 2,99% + 0,1% por dia antecipado  ·  Quanto mais longe a data, mais cara a taxa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01168" y="1335024"/>
            <a:ext cx="2798064" cy="2578608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" y="1335024"/>
            <a:ext cx="2798064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13898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Antecipação 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10896" y="1563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29/mai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10896" y="1874520"/>
            <a:ext cx="2578608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896" y="19019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Mobilizado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10896" y="206654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R$ 4.940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645920" y="19019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recebido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1645920" y="206654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R$ 4.699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10896" y="2377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Eduzz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310896" y="25420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R$ 241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45920" y="2377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após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1645920" y="25420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R$ 0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10896" y="2880360"/>
            <a:ext cx="2578608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" y="292608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créditos 05–19/jun + parte de 20/jun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Cobre: 30/mai (−R$ 7.054) e 31/mai (−R$ 921)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10896" y="345643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RESTANTE: R$ 19.996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3172968" y="1335024"/>
            <a:ext cx="2798064" cy="2578608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172968" y="1335024"/>
            <a:ext cx="2798064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82696" y="13898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Antecipação 2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282696" y="1563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04/jun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3282696" y="1874520"/>
            <a:ext cx="2578608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82696" y="19019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Mobilizado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282696" y="206654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R$ 10.480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617720" y="19019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recebido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4617720" y="206654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R$ 10.000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282696" y="2377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Eduzz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3282696" y="25420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R$ 480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4617720" y="2377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após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4617720" y="25420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R$ 0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3282696" y="2880360"/>
            <a:ext cx="2578608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82696" y="292608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restante 20/jun + parte de 21/jun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Cobre: Já Postei Studio 05/jun (−R$ 10.000)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45643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RESTANTE: R$ 9.516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6144768" y="1335024"/>
            <a:ext cx="2798064" cy="2578608"/>
          </a:xfrm>
          <a:prstGeom prst="rect">
            <a:avLst/>
          </a:prstGeom>
          <a:solidFill>
            <a:srgbClr val="14141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44768" y="1335024"/>
            <a:ext cx="279806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54496" y="13898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Antecipação 3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6254496" y="1563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09/jun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6254496" y="1874520"/>
            <a:ext cx="2578608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54496" y="19019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Mobilizado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6254496" y="206654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R$ 9.516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7589520" y="19019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recebido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7589520" y="206654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R$ 9.108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6254496" y="2377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Eduzz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6254496" y="25420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R$ 408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7589520" y="2377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após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7589520" y="25420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R$ 216</a:t>
            </a:r>
            <a:endParaRPr lang="en-US" sz="1250" dirty="0"/>
          </a:p>
        </p:txBody>
      </p:sp>
      <p:sp>
        <p:nvSpPr>
          <p:cNvPr id="57" name="Shape 54"/>
          <p:cNvSpPr/>
          <p:nvPr/>
        </p:nvSpPr>
        <p:spPr>
          <a:xfrm>
            <a:off x="6254496" y="2880360"/>
            <a:ext cx="2578608" cy="164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254496" y="292608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TUDO restante (21+22+23/jun)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zerado! Cobre parcialmente pico 10–13/jun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6254496" y="345643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RESTANTE: R$ 0 — esgotado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201168" y="3950208"/>
            <a:ext cx="8741664" cy="585216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47472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mobilizado</a:t>
            </a:r>
            <a:endParaRPr lang="en-US" sz="650" dirty="0"/>
          </a:p>
        </p:txBody>
      </p:sp>
      <p:sp>
        <p:nvSpPr>
          <p:cNvPr id="62" name="Text 59"/>
          <p:cNvSpPr/>
          <p:nvPr/>
        </p:nvSpPr>
        <p:spPr>
          <a:xfrm>
            <a:off x="347472" y="4151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R$ 24.936</a:t>
            </a:r>
            <a:endParaRPr lang="en-US" sz="1350" dirty="0"/>
          </a:p>
        </p:txBody>
      </p:sp>
      <p:sp>
        <p:nvSpPr>
          <p:cNvPr id="63" name="Text 60"/>
          <p:cNvSpPr/>
          <p:nvPr/>
        </p:nvSpPr>
        <p:spPr>
          <a:xfrm>
            <a:off x="2084832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total taxas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2084832" y="4151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R$ 1.129</a:t>
            </a:r>
            <a:endParaRPr lang="en-US" sz="1350" dirty="0"/>
          </a:p>
        </p:txBody>
      </p:sp>
      <p:sp>
        <p:nvSpPr>
          <p:cNvPr id="65" name="Text 62"/>
          <p:cNvSpPr/>
          <p:nvPr/>
        </p:nvSpPr>
        <p:spPr>
          <a:xfrm>
            <a:off x="3822192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esgota em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3822192" y="4151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10/jun</a:t>
            </a:r>
            <a:endParaRPr lang="en-US" sz="1350" dirty="0"/>
          </a:p>
        </p:txBody>
      </p:sp>
      <p:sp>
        <p:nvSpPr>
          <p:cNvPr id="67" name="Text 64"/>
          <p:cNvSpPr/>
          <p:nvPr/>
        </p:nvSpPr>
        <p:spPr>
          <a:xfrm>
            <a:off x="5559552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 c/ taxas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5559552" y="4151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 R$ 18.536</a:t>
            </a:r>
            <a:endParaRPr lang="en-US" sz="1350" dirty="0"/>
          </a:p>
        </p:txBody>
      </p:sp>
      <p:sp>
        <p:nvSpPr>
          <p:cNvPr id="69" name="Text 66"/>
          <p:cNvSpPr/>
          <p:nvPr/>
        </p:nvSpPr>
        <p:spPr>
          <a:xfrm>
            <a:off x="7296912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650" dirty="0"/>
          </a:p>
        </p:txBody>
      </p:sp>
      <p:sp>
        <p:nvSpPr>
          <p:cNvPr id="70" name="Text 67"/>
          <p:cNvSpPr/>
          <p:nvPr/>
        </p:nvSpPr>
        <p:spPr>
          <a:xfrm>
            <a:off x="7296912" y="4151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Lançamento ainda obrigatório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274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B — GRÁFICO: ORIGINAL VS COM ANTECIPAÇÕES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do Amor Divino · Análise de Fluxo de Caixa Mai–Jun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407408"/>
            <a:ext cx="1920240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5212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Antecipações compram tempo — pool se esgota em 10/jun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7744" y="868680"/>
            <a:ext cx="201168" cy="10972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8503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original (sem ação)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127248" y="868680"/>
            <a:ext cx="201168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8503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c/ antecipações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016752" y="868680"/>
            <a:ext cx="20116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4496" y="8503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(c/ antecipações)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37744" y="1033272"/>
            <a:ext cx="20116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1014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127248" y="1033272"/>
            <a:ext cx="20116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64992" y="1014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Antecipação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016752" y="1033272"/>
            <a:ext cx="201168" cy="10972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54496" y="1014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⬤ Pool esgotado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01168" y="1170432"/>
          <a:ext cx="8741664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1234440" y="4389120"/>
            <a:ext cx="274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69848" y="43799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Ant.1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29/mai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2743200" y="4389120"/>
            <a:ext cx="274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578608" y="43799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Ant.2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04/jun</a:t>
            </a:r>
            <a:endParaRPr lang="en-US" sz="600" dirty="0"/>
          </a:p>
        </p:txBody>
      </p:sp>
      <p:sp>
        <p:nvSpPr>
          <p:cNvPr id="27" name="Shape 23"/>
          <p:cNvSpPr/>
          <p:nvPr/>
        </p:nvSpPr>
        <p:spPr>
          <a:xfrm>
            <a:off x="4005072" y="4389120"/>
            <a:ext cx="274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40480" y="43799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Ant.3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09/jun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4343400" y="4389120"/>
            <a:ext cx="27432" cy="16459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78808" y="43799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274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 C — LANÇAMENTO · INVEST. R$ 15K · ROAS LÍQUIDO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do Amor Divino · Análise de Fluxo de Caixa Mai–Jun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407408"/>
            <a:ext cx="1920240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5303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 lançamento, o caixa fecha junho positivo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201168" y="978408"/>
            <a:ext cx="2798064" cy="914400"/>
          </a:xfrm>
          <a:prstGeom prst="rect">
            <a:avLst/>
          </a:prstGeom>
          <a:solidFill>
            <a:srgbClr val="141414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978408"/>
            <a:ext cx="2798064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0607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R$ 15.000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10896" y="15453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ADS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145536" y="978408"/>
            <a:ext cx="2798064" cy="914400"/>
          </a:xfrm>
          <a:prstGeom prst="rect">
            <a:avLst/>
          </a:prstGeom>
          <a:solidFill>
            <a:srgbClr val="141414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5536" y="978408"/>
            <a:ext cx="2798064" cy="457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55264" y="10607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  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255264" y="15453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LÍQUIDO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089904" y="978408"/>
            <a:ext cx="2798064" cy="914400"/>
          </a:xfrm>
          <a:prstGeom prst="rect">
            <a:avLst/>
          </a:prstGeom>
          <a:solidFill>
            <a:srgbClr val="141414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9904" y="978408"/>
            <a:ext cx="2798064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10607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 R$ 45.000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99632" y="15453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LÍQUIDO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01168" y="1984248"/>
            <a:ext cx="8741664" cy="1115568"/>
          </a:xfrm>
          <a:prstGeom prst="rect">
            <a:avLst/>
          </a:prstGeom>
          <a:solidFill>
            <a:srgbClr val="001A00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1168" y="1984248"/>
            <a:ext cx="8741664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2048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 DO LANÇAMENTO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47472" y="22494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do lançamento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347472" y="243230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R$ 45.000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057400" y="22494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Investimento ads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057400" y="243230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R$ 15.000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767328" y="22494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lançamento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3767328" y="243230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R$ 30.000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77256" y="22494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Rombo original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5477256" y="243230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R$ 17.407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187184" y="22494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final junho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7187184" y="243230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R$ 12.593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201168" y="320040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PARA FUNCIONAR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01168" y="3438144"/>
            <a:ext cx="64008" cy="182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9184" y="3447288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aberto antes de 10/jun para cobrir o pico crítico de R$ 13.252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01168" y="3703320"/>
            <a:ext cx="64008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9184" y="3712464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com antecipação (Cenário B) para cobrir 30/mai e 05/jun antes do retorno entrar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01168" y="3968496"/>
            <a:ext cx="64008" cy="182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9184" y="3977640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de R$ 15k em ads deve sair até dia 11/jun — mantendo ROAS ≥ 3 líquido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01168" y="4233672"/>
            <a:ext cx="64008" cy="1828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9184" y="4242816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do lançamento precisa ser processada na Eduzz antes das próximas saídas de julho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274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 — ESTRATÉGIA RECOMENDADA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do Amor Divino · Análise de Fluxo de Caixa Mai–Jun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407408"/>
            <a:ext cx="1920240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5303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combinação B + C é a única saída real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1920240"/>
            <a:ext cx="8229600" cy="2743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1801368"/>
            <a:ext cx="256032" cy="256032"/>
          </a:xfrm>
          <a:prstGeom prst="oval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6968" y="2057400"/>
            <a:ext cx="13716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" y="2121408"/>
            <a:ext cx="1371600" cy="868680"/>
          </a:xfrm>
          <a:prstGeom prst="rect">
            <a:avLst/>
          </a:prstGeom>
          <a:solidFill>
            <a:srgbClr val="141414"/>
          </a:solidFill>
          <a:ln w="8890">
            <a:solidFill>
              <a:srgbClr val="FF6B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" y="2121408"/>
            <a:ext cx="1371600" cy="3657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" y="21854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Agora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0624" y="2368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Planejar lançamento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0624" y="26060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carrinho &lt; 10/jun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203704" y="1801368"/>
            <a:ext cx="256032" cy="256032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22576" y="1691640"/>
            <a:ext cx="13716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83080" y="978408"/>
            <a:ext cx="1371600" cy="868680"/>
          </a:xfrm>
          <a:prstGeom prst="rect">
            <a:avLst/>
          </a:prstGeom>
          <a:solidFill>
            <a:srgbClr val="141414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83080" y="978408"/>
            <a:ext cx="1371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56232" y="10424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29/mai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856232" y="1225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Ant. 1 — R$ 4.699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856232" y="14630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 rombo 30–31/mai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3639312" y="1801368"/>
            <a:ext cx="256032" cy="256032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58184" y="2057400"/>
            <a:ext cx="13716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18688" y="2121408"/>
            <a:ext cx="1371600" cy="868680"/>
          </a:xfrm>
          <a:prstGeom prst="rect">
            <a:avLst/>
          </a:prstGeom>
          <a:solidFill>
            <a:srgbClr val="141414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2121408"/>
            <a:ext cx="1371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21854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04/jun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291840" y="2368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Ant. 2 — R$ 10.000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91840" y="26060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 Já Postei Studio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074920" y="1801368"/>
            <a:ext cx="256032" cy="256032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193792" y="1691640"/>
            <a:ext cx="137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54296" y="978408"/>
            <a:ext cx="1371600" cy="868680"/>
          </a:xfrm>
          <a:prstGeom prst="rect">
            <a:avLst/>
          </a:prstGeom>
          <a:solidFill>
            <a:srgbClr val="141414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4296" y="978408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27448" y="10424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09/jun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727448" y="1225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Ant. 3 — R$ 9.108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727448" y="14630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zerado — último fôlego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510528" y="1801368"/>
            <a:ext cx="256032" cy="256032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29400" y="2057400"/>
            <a:ext cx="13716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89904" y="2121408"/>
            <a:ext cx="1371600" cy="868680"/>
          </a:xfrm>
          <a:prstGeom prst="rect">
            <a:avLst/>
          </a:prstGeom>
          <a:solidFill>
            <a:srgbClr val="141414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089904" y="2121408"/>
            <a:ext cx="137160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63056" y="21854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10/jun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163056" y="2368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Carrinho fechado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163056" y="26060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precisa estar processando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7946136" y="1801368"/>
            <a:ext cx="256032" cy="256032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065008" y="1691640"/>
            <a:ext cx="13716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525512" y="978408"/>
            <a:ext cx="1371600" cy="868680"/>
          </a:xfrm>
          <a:prstGeom prst="rect">
            <a:avLst/>
          </a:prstGeom>
          <a:solidFill>
            <a:srgbClr val="141414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25512" y="978408"/>
            <a:ext cx="137160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598664" y="10424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Junho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598664" y="1225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Saldo + R$ 12.593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598664" y="14630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ROAS 3 garantido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201168" y="3172968"/>
            <a:ext cx="8741664" cy="1335024"/>
          </a:xfrm>
          <a:prstGeom prst="rect">
            <a:avLst/>
          </a:prstGeom>
          <a:solidFill>
            <a:srgbClr val="141414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01168" y="3172968"/>
            <a:ext cx="8741664" cy="457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7472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 EXECUTIVO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347472" y="3493008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Cenário A (sem ação): rombo de R$ 17.407 — inviável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7472" y="3730752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Cenário B (só antecipação): adia a crise até 10/jun, custo de R$ 1.129 — insuficiente sozinho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347472" y="3968496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Cenário C (lançamento R$ 15k, ROAS 3): gera R$ 45k, cobre tudo e ainda sobram R$ 12.593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347472" y="4206240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Estratégia ideal: B + C combinados — antecipação cobre os buracos até o lançamento resolver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Fluxo de Caixa — Instituto do Amor Divino</dc:title>
  <dc:subject>PptxGenJS Presentation</dc:subject>
  <dc:creator>PptxGenJS</dc:creator>
  <cp:lastModifiedBy>PptxGenJS</cp:lastModifiedBy>
  <cp:revision>1</cp:revision>
  <dcterms:created xsi:type="dcterms:W3CDTF">2026-05-25T14:33:37Z</dcterms:created>
  <dcterms:modified xsi:type="dcterms:W3CDTF">2026-05-25T14:33:37Z</dcterms:modified>
</cp:coreProperties>
</file>